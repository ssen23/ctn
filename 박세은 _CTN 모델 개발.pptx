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jCNCQoEu6r+yah1OX/8ik9i8CE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분류 기준 소개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수식에 대한 논리적 근거가 필요함.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어떤 근거로 수식을 정의하였는가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/>
              <a:t>노란색 밑줄 소개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>
                <a:solidFill>
                  <a:schemeClr val="dk1"/>
                </a:solidFill>
              </a:rPr>
              <a:t>엑셀 파일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dbtest_ctn.excel</a:t>
            </a:r>
            <a:r>
              <a:rPr lang="ko">
                <a:solidFill>
                  <a:schemeClr val="dk1"/>
                </a:solidFill>
              </a:rPr>
              <a:t> (실제 업로드된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.xlsx</a:t>
            </a:r>
            <a:r>
              <a:rPr lang="ko">
                <a:solidFill>
                  <a:schemeClr val="dk1"/>
                </a:solidFill>
              </a:rPr>
              <a:t> 파일)을 MongoDB에 업로드 →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ttest.py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>
                <a:solidFill>
                  <a:schemeClr val="dk1"/>
                </a:solidFill>
              </a:rPr>
              <a:t>MongoDB에 저장된 데이터를 HTML 테이블로 보여주는 웹페이지 만들기 →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main.html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MongoDB와 HTML을 연동하는 방법입니다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먼저 엑셀 파일을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ttest.py</a:t>
            </a:r>
            <a:r>
              <a:rPr lang="ko">
                <a:solidFill>
                  <a:schemeClr val="dk1"/>
                </a:solidFill>
              </a:rPr>
              <a:t>를 통해 MongoDB에 업로드하고,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업로드된 데이터를 </a:t>
            </a: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main.html</a:t>
            </a:r>
            <a:r>
              <a:rPr lang="ko">
                <a:solidFill>
                  <a:schemeClr val="dk1"/>
                </a:solidFill>
              </a:rPr>
              <a:t>에서 HTML로 시각화했습니다.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화면은 실제 웹 페이지 예시입니다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crawler.py</a:t>
            </a:r>
            <a:r>
              <a:rPr lang="ko">
                <a:solidFill>
                  <a:schemeClr val="dk1"/>
                </a:solidFill>
              </a:rPr>
              <a:t>를 통해 네이버 뉴스 데이터를 크롤링하고,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MongoDB에 저장된 구조를 보여주는 화면입니다.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다만, 댓글 수와 공감 수는 아직 가져오지 못 한 걸 볼 수 있습니다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ko">
                <a:solidFill>
                  <a:srgbClr val="2125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댓글 수·공감 수를 가져오기 위해 Selenium(셀리니움)을 사용했고, 정상적으로 작동하는 것을 볼 수 있습니다</a:t>
            </a:r>
            <a:endParaRPr b="1">
              <a:solidFill>
                <a:srgbClr val="2125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rgbClr val="212529"/>
                </a:solidFill>
                <a:latin typeface="Malgun Gothic"/>
                <a:ea typeface="Malgun Gothic"/>
                <a:cs typeface="Malgun Gothic"/>
                <a:sym typeface="Malgun Gothic"/>
              </a:rPr>
              <a:t>------------------------------------------------------------------------------------------------</a:t>
            </a:r>
            <a:endParaRPr>
              <a:solidFill>
                <a:srgbClr val="2125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rgbClr val="212529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Requests</a:t>
            </a:r>
            <a:endParaRPr b="1">
              <a:solidFill>
                <a:srgbClr val="212529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rgbClr val="212529"/>
                </a:solidFill>
                <a:highlight>
                  <a:srgbClr val="F8F9FA"/>
                </a:highlight>
                <a:latin typeface="Malgun Gothic"/>
                <a:ea typeface="Malgun Gothic"/>
                <a:cs typeface="Malgun Gothic"/>
                <a:sym typeface="Malgun Gothic"/>
              </a:rPr>
              <a:t>웹사이트에 접근하여 데이터를 가져오기 위한 라이브러리</a:t>
            </a:r>
            <a:endParaRPr sz="1050">
              <a:solidFill>
                <a:srgbClr val="212529"/>
              </a:solidFill>
              <a:highlight>
                <a:srgbClr val="F8F9FA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rgbClr val="212529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BeautifulSoup</a:t>
            </a:r>
            <a:endParaRPr b="1">
              <a:solidFill>
                <a:srgbClr val="212529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50">
                <a:solidFill>
                  <a:srgbClr val="212529"/>
                </a:solidFill>
                <a:highlight>
                  <a:srgbClr val="F8F9FA"/>
                </a:highlight>
                <a:latin typeface="Malgun Gothic"/>
                <a:ea typeface="Malgun Gothic"/>
                <a:cs typeface="Malgun Gothic"/>
                <a:sym typeface="Malgun Gothic"/>
              </a:rPr>
              <a:t>HTML 및 XML 문서를 파싱하고 원하는 데이터를 추출하기 위한 Python 라이브러리</a:t>
            </a:r>
            <a:endParaRPr sz="1150">
              <a:solidFill>
                <a:srgbClr val="212529"/>
              </a:solidFill>
              <a:highlight>
                <a:srgbClr val="F8F9FA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rgbClr val="212529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Selenium(셀레니움)</a:t>
            </a:r>
            <a:endParaRPr b="1">
              <a:solidFill>
                <a:srgbClr val="212529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50">
                <a:solidFill>
                  <a:srgbClr val="212529"/>
                </a:solidFill>
                <a:highlight>
                  <a:srgbClr val="F8F9FA"/>
                </a:highlight>
                <a:latin typeface="Malgun Gothic"/>
                <a:ea typeface="Malgun Gothic"/>
                <a:cs typeface="Malgun Gothic"/>
                <a:sym typeface="Malgun Gothic"/>
              </a:rPr>
              <a:t>웹 브라우저를 자동화하기 위한 도구이다. JavaScript로 렌더링된 페이지나 사용자 상호작용을 모방할 때 유용</a:t>
            </a:r>
            <a:endParaRPr sz="1150">
              <a:solidFill>
                <a:srgbClr val="212529"/>
              </a:solidFill>
              <a:highlight>
                <a:srgbClr val="F8F9FA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212529"/>
              </a:solidFill>
              <a:highlight>
                <a:srgbClr val="F8F9FA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212529"/>
              </a:solidFill>
              <a:highlight>
                <a:srgbClr val="F8F9FA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</a:rPr>
              <a:t>🔀 선택지 비교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</a:rPr>
              <a:t>위 아래 공통: 몽고 디비에서 데이터 가져와서 모델을 적용합니다,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</a:rPr>
              <a:t>위:  모델 적하여 확률이 추가된 데이터를 다시 몽고디비에 업데이트하고 웹페이지로 출력합니다.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</a:rPr>
              <a:t>아래: 확률이 추가된 데이터를 웹페이지에 출력할 때 바로 표시합니다. 모델 적용 결과가 따로 적용되지 않습니다.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</a:rPr>
              <a:t>--------------------------------------------------------------------------------------------------------------------------------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✅ 옵션 1: 몽고DB에 '불일치 확률'을 추가하여 저장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900">
                <a:solidFill>
                  <a:schemeClr val="dk1"/>
                </a:solidFill>
              </a:rPr>
              <a:t>📌 방식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ko" sz="900">
                <a:solidFill>
                  <a:schemeClr val="dk1"/>
                </a:solidFill>
              </a:rPr>
              <a:t> + </a:t>
            </a:r>
            <a:r>
              <a:rPr lang="ko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ko" sz="900">
                <a:solidFill>
                  <a:schemeClr val="dk1"/>
                </a:solidFill>
              </a:rPr>
              <a:t>로 모델을 돌려 </a:t>
            </a:r>
            <a:r>
              <a:rPr lang="ko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불일치 확률</a:t>
            </a:r>
            <a:r>
              <a:rPr lang="ko" sz="900">
                <a:solidFill>
                  <a:schemeClr val="dk1"/>
                </a:solidFill>
              </a:rPr>
              <a:t> 값을 얻은 뒤,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MongoDB에 저장된 각 문서에 </a:t>
            </a:r>
            <a:r>
              <a:rPr lang="ko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mismatch_score</a:t>
            </a:r>
            <a:r>
              <a:rPr lang="ko" sz="900">
                <a:solidFill>
                  <a:schemeClr val="dk1"/>
                </a:solidFill>
              </a:rPr>
              <a:t> (예: 0.87) 필드를 업데이트.</a:t>
            </a:r>
            <a:br>
              <a:rPr lang="ko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900">
                <a:solidFill>
                  <a:schemeClr val="dk1"/>
                </a:solidFill>
              </a:rPr>
              <a:t>✅ 장점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  <a:highlight>
                  <a:srgbClr val="FFFF00"/>
                </a:highlight>
              </a:rPr>
              <a:t>데이터 재활용이 빠름</a:t>
            </a:r>
            <a:r>
              <a:rPr lang="ko" sz="900">
                <a:solidFill>
                  <a:schemeClr val="dk1"/>
                </a:solidFill>
                <a:highlight>
                  <a:srgbClr val="FFFF00"/>
                </a:highlight>
              </a:rPr>
              <a:t> → HTML 렌더링 시 DB에서 바로 가져오기만 하면 됨.</a:t>
            </a:r>
            <a:endParaRPr sz="9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분석 이력 관리 가능 (언제 예측했는지 등도 기록 가능).</a:t>
            </a:r>
            <a:br>
              <a:rPr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검색, 필터링, 정렬에 활용 가능 (</a:t>
            </a:r>
            <a:r>
              <a:rPr lang="ko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불일치 높은 순</a:t>
            </a:r>
            <a:r>
              <a:rPr lang="ko" sz="900">
                <a:solidFill>
                  <a:schemeClr val="dk1"/>
                </a:solidFill>
              </a:rPr>
              <a:t> 보기 등).</a:t>
            </a:r>
            <a:br>
              <a:rPr lang="ko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900">
                <a:solidFill>
                  <a:schemeClr val="dk1"/>
                </a:solidFill>
              </a:rPr>
              <a:t>❌ 단점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스코어 기준 변경 시, 전체 데이터를 다시 예측/업데이트해야 함.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DB에 모델 의존적 필드가 추가됨 (확장 시 관리 이슈 가능).</a:t>
            </a:r>
            <a:br>
              <a:rPr lang="ko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lt1"/>
                </a:solidFill>
                <a:highlight>
                  <a:srgbClr val="FF0000"/>
                </a:highlight>
              </a:rPr>
              <a:t>✅ 옵션 2: 모델 예측은 호출 시 즉석 처리 (DB에는 저장 안 함)</a:t>
            </a:r>
            <a:endParaRPr b="1">
              <a:solidFill>
                <a:schemeClr val="lt1"/>
              </a:solidFill>
              <a:highlight>
                <a:srgbClr val="FF00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900">
                <a:solidFill>
                  <a:schemeClr val="dk1"/>
                </a:solidFill>
              </a:rPr>
              <a:t>📌 방식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HTML 호출 시 DB에서 </a:t>
            </a:r>
            <a:r>
              <a:rPr lang="ko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ko" sz="900">
                <a:solidFill>
                  <a:schemeClr val="dk1"/>
                </a:solidFill>
              </a:rPr>
              <a:t>과 </a:t>
            </a:r>
            <a:r>
              <a:rPr lang="ko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ko" sz="900">
                <a:solidFill>
                  <a:schemeClr val="dk1"/>
                </a:solidFill>
              </a:rPr>
              <a:t>를 가져온 뒤,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서버 측에서 실시간으로 모델 돌리고 </a:t>
            </a:r>
            <a:r>
              <a:rPr lang="ko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불일치 확률</a:t>
            </a:r>
            <a:r>
              <a:rPr lang="ko" sz="900">
                <a:solidFill>
                  <a:schemeClr val="dk1"/>
                </a:solidFill>
              </a:rPr>
              <a:t> 계산 후 화면에만 출력.</a:t>
            </a:r>
            <a:br>
              <a:rPr lang="ko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900">
                <a:solidFill>
                  <a:schemeClr val="dk1"/>
                </a:solidFill>
              </a:rPr>
              <a:t>✅ 장점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DB는 순수하게 원본 데이터만 유지</a:t>
            </a:r>
            <a:r>
              <a:rPr lang="ko" sz="900">
                <a:solidFill>
                  <a:schemeClr val="dk1"/>
                </a:solidFill>
              </a:rPr>
              <a:t>됨.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모델 업데이트 시 재학습 없이 최신 결과 반영 가능.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다양한 모델 실험에 유연함 (여러 모델 비교 등도 쉽게 가능).</a:t>
            </a:r>
            <a:br>
              <a:rPr lang="ko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900">
                <a:solidFill>
                  <a:schemeClr val="dk1"/>
                </a:solidFill>
              </a:rPr>
              <a:t>❌ 단점</a:t>
            </a:r>
            <a:endParaRPr b="1" sz="9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  <a:highlight>
                  <a:srgbClr val="FFFF00"/>
                </a:highlight>
              </a:rPr>
              <a:t>호출할 때마다 예측 모델을 계속 불러야 하므로 </a:t>
            </a:r>
            <a:r>
              <a:rPr b="1" lang="ko" sz="1000">
                <a:solidFill>
                  <a:schemeClr val="dk1"/>
                </a:solidFill>
                <a:highlight>
                  <a:srgbClr val="FFFF00"/>
                </a:highlight>
              </a:rPr>
              <a:t>속도 느림 / 리소스 부담</a:t>
            </a:r>
            <a:r>
              <a:rPr lang="ko" sz="1000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 sz="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HTML 페이지 로딩 속도가 느려질 수 있음.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#app.py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>
                <a:solidFill>
                  <a:schemeClr val="dk1"/>
                </a:solidFill>
              </a:rPr>
              <a:t>Flask 웹서버</a:t>
            </a:r>
            <a:r>
              <a:rPr lang="ko">
                <a:solidFill>
                  <a:schemeClr val="dk1"/>
                </a:solidFill>
              </a:rPr>
              <a:t>를 구동하고 웹페이지를 렌더링(보여주는 작업)</a:t>
            </a:r>
            <a:br>
              <a:rPr lang="ko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#db_utils.py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>
                <a:solidFill>
                  <a:schemeClr val="dk1"/>
                </a:solidFill>
              </a:rPr>
              <a:t>몽고디비(MongoDB)</a:t>
            </a:r>
            <a:r>
              <a:rPr lang="ko">
                <a:solidFill>
                  <a:schemeClr val="dk1"/>
                </a:solidFill>
              </a:rPr>
              <a:t> 에 연결해서 뉴스 데이터를 가져옴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#model_utils.py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>
                <a:solidFill>
                  <a:schemeClr val="dk1"/>
                </a:solidFill>
              </a:rPr>
              <a:t>KoBERT 모델을 로딩(불러오기)</a:t>
            </a:r>
            <a:r>
              <a:rPr lang="ko">
                <a:solidFill>
                  <a:schemeClr val="dk1"/>
                </a:solidFill>
              </a:rPr>
              <a:t> 하고, 불일치 확률 등을 계산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오른쪽 위에 다섯가지는 koBERT 모델 관련 파일</a:t>
            </a:r>
            <a:br>
              <a:rPr lang="ko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ko">
                <a:solidFill>
                  <a:schemeClr val="dk1"/>
                </a:solidFill>
              </a:rPr>
              <a:t>모델 성능 평가 결과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>
                <a:solidFill>
                  <a:schemeClr val="dk1"/>
                </a:solidFill>
              </a:rPr>
              <a:t>Positive 클래스(불일치 기사)</a:t>
            </a:r>
            <a:r>
              <a:rPr lang="ko">
                <a:solidFill>
                  <a:schemeClr val="dk1"/>
                </a:solidFill>
              </a:rPr>
              <a:t> 기준으로 보면:</a:t>
            </a:r>
            <a:br>
              <a:rPr lang="ko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Precision(정밀도) = 0.93</a:t>
            </a:r>
            <a:r>
              <a:rPr lang="ko">
                <a:solidFill>
                  <a:schemeClr val="dk1"/>
                </a:solidFill>
              </a:rPr>
              <a:t> → </a:t>
            </a:r>
            <a:r>
              <a:rPr b="1" lang="ko">
                <a:solidFill>
                  <a:schemeClr val="dk1"/>
                </a:solidFill>
              </a:rPr>
              <a:t>불일치라고 예측된 기사 중 93%는 실제로 불일치</a:t>
            </a:r>
            <a:br>
              <a:rPr b="1" lang="ko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Recall(재현율) = 0.72</a:t>
            </a:r>
            <a:r>
              <a:rPr lang="ko">
                <a:solidFill>
                  <a:schemeClr val="dk1"/>
                </a:solidFill>
              </a:rPr>
              <a:t> → </a:t>
            </a:r>
            <a:r>
              <a:rPr b="1" lang="ko">
                <a:solidFill>
                  <a:schemeClr val="dk1"/>
                </a:solidFill>
              </a:rPr>
              <a:t>전체 불일치 기사 중 72%만 감지 나머지 28%는 놓친 경우</a:t>
            </a:r>
            <a:br>
              <a:rPr b="1" lang="ko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➡️종합하면 **"</a:t>
            </a:r>
            <a:r>
              <a:rPr b="1" lang="ko">
                <a:solidFill>
                  <a:schemeClr val="dk1"/>
                </a:solidFill>
              </a:rPr>
              <a:t>이 모델은 거짓 기사를 꽤 정확하게 판별하지만, 일부는 놓칠 수 있다</a:t>
            </a:r>
            <a:r>
              <a:rPr lang="ko">
                <a:solidFill>
                  <a:schemeClr val="dk1"/>
                </a:solidFill>
              </a:rPr>
              <a:t>(Recall &lt; 0.75)"**는 의미입니다.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-&gt; 후속 모델 개선 시에는 Recall(재현율)을 높이는 방향을 고려할 필요가 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🔀 선택지 비교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모델을 어느정도 개발했다고 판단하여 이전의 방식을 위의 방식으로 변경했습니다. 웹페이지 출력속도가 현저히 빨라짐을 알 수 있습니다.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몽고디비에 확률값이 포함된 데이터가 업데이트됐음을 알 수 있습니다.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/>
              <a:t>결론: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/>
              <a:t>제목은 자극적 표현과 단정적 언어를 사용하여 </a:t>
            </a:r>
            <a:r>
              <a:rPr b="1" lang="ko"/>
              <a:t>독자 관심을 끌려는 의도가 강함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/>
              <a:t>본문은 비교적 균형 잡힌 정보 제공을 시도하고 있음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/>
              <a:t>따라서 </a:t>
            </a:r>
            <a:r>
              <a:rPr b="1" lang="ko"/>
              <a:t>제목과 본문은 메시지 톤과 사실 표현 방식에서 불일치</a:t>
            </a:r>
            <a:r>
              <a:rPr lang="ko"/>
              <a:t>한다고 판단할 수 있습니다.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ko"/>
              <a:t>분석 고도화, 데이터 확장, 기능 확장 등의 개선 방향이 존재합니다. 특히 (밑줄 친 부분만 간략히 읽고 넘기기)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" name="Google Shape;36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" name="Google Shape;37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1" name="Google Shape;4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hyperlink" Target="http://crawler.py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>
            <p:ph idx="4294967295" type="ctrTitle"/>
          </p:nvPr>
        </p:nvSpPr>
        <p:spPr>
          <a:xfrm>
            <a:off x="370833" y="3017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ko" sz="1050" u="none" cap="none" strike="noStrike">
                <a:solidFill>
                  <a:srgbClr val="2125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ko" sz="3000" u="none" cap="none" strike="noStrike">
                <a:solidFill>
                  <a:srgbClr val="2125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키워드 분류분석을 이용한 </a:t>
            </a:r>
            <a:endParaRPr b="1" i="0" sz="3000" u="none" cap="none" strike="noStrike">
              <a:solidFill>
                <a:srgbClr val="2125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ko" sz="3000" u="none" cap="none" strike="noStrike">
                <a:solidFill>
                  <a:srgbClr val="98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유도 뉴스(CTN) 판별 모델</a:t>
            </a:r>
            <a:r>
              <a:rPr b="1" i="0" lang="ko" sz="3000" u="none" cap="none" strike="noStrike">
                <a:solidFill>
                  <a:srgbClr val="2125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개발</a:t>
            </a:r>
            <a:endParaRPr b="1" i="0" sz="3000" u="none" cap="none" strike="noStrike">
              <a:solidFill>
                <a:srgbClr val="2125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3">
            <a:alphaModFix amt="63000"/>
          </a:blip>
          <a:srcRect b="2279" l="0" r="0" t="-2280"/>
          <a:stretch/>
        </p:blipFill>
        <p:spPr>
          <a:xfrm>
            <a:off x="5792100" y="2762819"/>
            <a:ext cx="3297050" cy="197265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>
            <p:ph idx="4294967295" type="subTitle"/>
          </p:nvPr>
        </p:nvSpPr>
        <p:spPr>
          <a:xfrm>
            <a:off x="7636475" y="3869475"/>
            <a:ext cx="16128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3"/>
              <a:buFont typeface="Arial"/>
              <a:buNone/>
            </a:pPr>
            <a:r>
              <a:rPr b="1" i="0" lang="ko" sz="14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2355005 박세은</a:t>
            </a:r>
            <a:endParaRPr b="1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3"/>
              <a:buFont typeface="Arial"/>
              <a:buNone/>
            </a:pPr>
            <a:r>
              <a:rPr b="1" i="0" lang="ko" sz="14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2355027 조범준</a:t>
            </a:r>
            <a:endParaRPr b="1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3"/>
              <a:buFont typeface="Arial"/>
              <a:buNone/>
            </a:pPr>
            <a:r>
              <a:rPr b="1" i="0" lang="ko" sz="14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2355032 홍채원</a:t>
            </a:r>
            <a:endParaRPr b="1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311700" y="45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Calibri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프로젝트 개요</a:t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311700" y="102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2286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901"/>
              <a:buFont typeface="Malgun Gothic"/>
              <a:buChar char="•"/>
            </a:pPr>
            <a:r>
              <a:rPr b="1" lang="ko" sz="15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클릭 유도 뉴스</a:t>
            </a: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란?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38996"/>
              <a:buNone/>
            </a:pP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사람의 클릭을 유도하기 위해 과장되거나 왜곡된 제목을 쓰는 뉴스 기사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ct val="138996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413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B5394"/>
              </a:buClr>
              <a:buSzPct val="108108"/>
              <a:buFont typeface="Roboto"/>
              <a:buChar char="•"/>
            </a:pPr>
            <a:r>
              <a:rPr b="1" lang="ko" sz="16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CTA</a:t>
            </a:r>
            <a:endParaRPr b="1" sz="16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38996"/>
              <a:buNone/>
            </a:pP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CTA = Call To Action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38996"/>
              <a:buNone/>
            </a:pP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독자/사용자에게 어떤 행동을 하게 유도하는 메시지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ct val="138996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980000"/>
              </a:buClr>
              <a:buSzPct val="108108"/>
              <a:buFont typeface="Roboto"/>
              <a:buChar char="•"/>
            </a:pPr>
            <a:r>
              <a:rPr b="1" lang="ko" sz="15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CTN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84942"/>
              <a:buFont typeface="Arial"/>
              <a:buNone/>
            </a:pP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CTN (Clickbait-Type News):  뉴스 소비자의 클릭을 유도하기 위해 </a:t>
            </a:r>
            <a:r>
              <a:rPr b="1"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과장되거나 왜곡된 제목</a:t>
            </a: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을 사용하는 콘텐츠를 말한다.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38996"/>
              <a:buNone/>
            </a:pP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이러한 뉴스는 </a:t>
            </a:r>
            <a:r>
              <a:rPr b="1" lang="ko" sz="14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본문 내용과 제목 간 의미 불일치</a:t>
            </a: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가 높으며, 정보 전달보다 </a:t>
            </a:r>
            <a:r>
              <a:rPr b="1"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흥미 유발, 감정 자극 및 소비자의 클릭 유도</a:t>
            </a:r>
            <a:r>
              <a:rPr lang="ko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에만 초점을 맞춘다.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1678" y="572228"/>
            <a:ext cx="2069675" cy="2467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3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0" y="0"/>
            <a:ext cx="9310499" cy="50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Calibri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목적</a:t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3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ko" sz="1700">
                <a:solidFill>
                  <a:schemeClr val="dk1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ko" sz="1700">
                <a:solidFill>
                  <a:schemeClr val="dk1"/>
                </a:solidFill>
                <a:highlight>
                  <a:srgbClr val="B6D7A8"/>
                </a:highlight>
                <a:latin typeface="Roboto"/>
                <a:ea typeface="Roboto"/>
                <a:cs typeface="Roboto"/>
                <a:sym typeface="Roboto"/>
              </a:rPr>
              <a:t> AI 기반</a:t>
            </a:r>
            <a:r>
              <a:rPr lang="ko" sz="1700">
                <a:solidFill>
                  <a:schemeClr val="dk1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으로 뉴스 제목과 내용의 </a:t>
            </a:r>
            <a:r>
              <a:rPr lang="ko" sz="17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불일치 정도</a:t>
            </a:r>
            <a:r>
              <a:rPr lang="ko" sz="1700">
                <a:solidFill>
                  <a:schemeClr val="dk1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를 자동 분석</a:t>
            </a:r>
            <a:endParaRPr sz="1700">
              <a:solidFill>
                <a:schemeClr val="dk1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ko" sz="1700">
                <a:solidFill>
                  <a:schemeClr val="dk1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- 독자 </a:t>
            </a:r>
            <a:r>
              <a:rPr lang="ko" sz="17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참여도</a:t>
            </a:r>
            <a:r>
              <a:rPr lang="ko" sz="1700">
                <a:solidFill>
                  <a:schemeClr val="dk1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와 </a:t>
            </a:r>
            <a:r>
              <a:rPr lang="ko" sz="17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화제성</a:t>
            </a:r>
            <a:r>
              <a:rPr lang="ko" sz="1700">
                <a:solidFill>
                  <a:schemeClr val="dk1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을 종합적으로 평가</a:t>
            </a:r>
            <a:endParaRPr sz="1700">
              <a:solidFill>
                <a:schemeClr val="dk1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ko" sz="1700">
                <a:solidFill>
                  <a:schemeClr val="dk1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ko" sz="1700">
                <a:solidFill>
                  <a:schemeClr val="dk1"/>
                </a:solidFill>
                <a:highlight>
                  <a:srgbClr val="B6D7A8"/>
                </a:highlight>
                <a:latin typeface="Roboto"/>
                <a:ea typeface="Roboto"/>
                <a:cs typeface="Roboto"/>
                <a:sym typeface="Roboto"/>
              </a:rPr>
              <a:t>언론사별 신뢰도</a:t>
            </a:r>
            <a:r>
              <a:rPr lang="ko" sz="1700">
                <a:solidFill>
                  <a:schemeClr val="dk1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를 객관적으로 측정</a:t>
            </a:r>
            <a:endParaRPr sz="1700">
              <a:solidFill>
                <a:schemeClr val="dk1"/>
              </a:solidFill>
              <a:highlight>
                <a:srgbClr val="F8F9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기대효과</a:t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4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41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ko" sz="1600">
                <a:solidFill>
                  <a:schemeClr val="dk1"/>
                </a:solidFill>
                <a:highlight>
                  <a:srgbClr val="A2C4C9"/>
                </a:highlight>
                <a:latin typeface="Roboto"/>
                <a:ea typeface="Roboto"/>
                <a:cs typeface="Roboto"/>
                <a:sym typeface="Roboto"/>
              </a:rPr>
              <a:t>사회적 효과</a:t>
            </a:r>
            <a:endParaRPr sz="1600">
              <a:solidFill>
                <a:schemeClr val="dk1"/>
              </a:solidFill>
              <a:highlight>
                <a:srgbClr val="A2C4C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신뢰도 상승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정보 혼란 감소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413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ko" sz="1600">
                <a:solidFill>
                  <a:schemeClr val="dk1"/>
                </a:solidFill>
                <a:highlight>
                  <a:srgbClr val="A2C4C9"/>
                </a:highlight>
                <a:latin typeface="Roboto"/>
                <a:ea typeface="Roboto"/>
                <a:cs typeface="Roboto"/>
                <a:sym typeface="Roboto"/>
              </a:rPr>
              <a:t>경제적 효과</a:t>
            </a:r>
            <a:endParaRPr sz="1600">
              <a:solidFill>
                <a:schemeClr val="dk1"/>
              </a:solidFill>
              <a:highlight>
                <a:srgbClr val="A2C4C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불필요한 정보 습득 방지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효율적 뉴스 소비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" name="Google Shape;73;p4"/>
          <p:cNvPicPr preferRelativeResize="0"/>
          <p:nvPr/>
        </p:nvPicPr>
        <p:blipFill rotWithShape="1">
          <a:blip r:embed="rId3">
            <a:alphaModFix/>
          </a:blip>
          <a:srcRect b="0" l="-4100" r="4100" t="0"/>
          <a:stretch/>
        </p:blipFill>
        <p:spPr>
          <a:xfrm>
            <a:off x="1949900" y="336275"/>
            <a:ext cx="1901775" cy="14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8572" y="1893725"/>
            <a:ext cx="75092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4900" y="2013350"/>
            <a:ext cx="4379500" cy="292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ko">
                <a:highlight>
                  <a:srgbClr val="EA9999"/>
                </a:highlight>
                <a:latin typeface="Roboto"/>
                <a:ea typeface="Roboto"/>
                <a:cs typeface="Roboto"/>
                <a:sym typeface="Roboto"/>
              </a:rPr>
              <a:t>핵심 기능</a:t>
            </a:r>
            <a:endParaRPr b="1">
              <a:highlight>
                <a:srgbClr val="EA9999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클릭베이트 탐지 (제목-내용 불일치 분석)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독자 참여도 분석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언론사 신뢰도 평가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실시간 대시보드 제공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48889"/>
              <a:buFont typeface="Arial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불일치 확률 (Mismatch Probability)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의미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제목이 내용과 얼마나 다른지를 0~1 사이 확률로 표현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분류 기준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🚨 </a:t>
            </a: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고위험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(≥ 0.7): 심각한 클릭베이트 의심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⚠️ </a:t>
            </a: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중위험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(0.4~0.7): 주의 필요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✅ </a:t>
            </a: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저위험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(&lt; 0.4): 제목과 내용 일치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22" y="3699147"/>
            <a:ext cx="5274524" cy="13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3750" y="3699150"/>
            <a:ext cx="2837611" cy="13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4075" y="3723675"/>
            <a:ext cx="2629675" cy="12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124444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참여도 점수 (Engagement Score)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수식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ko" sz="1600">
                <a:solidFill>
                  <a:srgbClr val="383A42"/>
                </a:solidFill>
                <a:latin typeface="Roboto"/>
                <a:ea typeface="Roboto"/>
                <a:cs typeface="Roboto"/>
                <a:sym typeface="Roboto"/>
              </a:rPr>
              <a:t>참여도 점수 = (공감수 × 0.3) + (댓글수 × 0.7)</a:t>
            </a:r>
            <a:endParaRPr sz="1600">
              <a:solidFill>
                <a:srgbClr val="383A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F9D45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의미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ko" sz="16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댓글이 공감보다 더 적극적인 참여를 의미하므로 가중치 0.7 적용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ko" sz="16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 공감은 상대적으로 소극적 참여로 가중치 0.3 적용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분류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🟢 고참여 (≥ 20점)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🟡 중참여 (10~20점)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🔴 저참여 (&lt; 10점)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5900" y="2951356"/>
            <a:ext cx="4829748" cy="2137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124444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화제성 지표 (Controversial Ratio)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수식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00">
                <a:solidFill>
                  <a:srgbClr val="383A42"/>
                </a:solidFill>
                <a:latin typeface="Roboto"/>
                <a:ea typeface="Roboto"/>
                <a:cs typeface="Roboto"/>
                <a:sym typeface="Roboto"/>
              </a:rPr>
              <a:t>화제성 비율 = 댓글수 ÷ 공감수</a:t>
            </a:r>
            <a:endParaRPr sz="1600">
              <a:solidFill>
                <a:srgbClr val="383A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의미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비율이 높을수록 논란이나 토론을 유발하는 기사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2.0 이상일 때 화제성 기사로 분류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ko" sz="16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공감 대비 댓글이 많다 = 의견이 분분한 주제 </a:t>
            </a:r>
            <a:endParaRPr sz="1600">
              <a:highlight>
                <a:srgbClr val="FFE599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625" y="3984300"/>
            <a:ext cx="7392700" cy="10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8889"/>
              <a:buFont typeface="Arial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언론사 신뢰도 분석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평가 방법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고위험 기사 비율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(고위험 기사 수 ÷ 전체 기사 수) × 100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신뢰도 등급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🟢 </a:t>
            </a: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높음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(&lt; 20%): 고위험 기사 비율 낮음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🟡 </a:t>
            </a: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보통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(20~50%): 주의 필요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🔴 </a:t>
            </a:r>
            <a:r>
              <a:rPr b="1"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낮음</a:t>
            </a:r>
            <a:r>
              <a:rPr lang="ko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(≥ 50%): 개선 필요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2025" y="2302250"/>
            <a:ext cx="4267550" cy="26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8889"/>
              <a:buFont typeface="Arial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대시보드 주요 기능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0"/>
          <p:cNvSpPr txBox="1"/>
          <p:nvPr>
            <p:ph idx="1" type="body"/>
          </p:nvPr>
        </p:nvSpPr>
        <p:spPr>
          <a:xfrm>
            <a:off x="311700" y="1152475"/>
            <a:ext cx="415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ko" sz="1702">
                <a:solidFill>
                  <a:schemeClr val="dk1"/>
                </a:solidFill>
                <a:highlight>
                  <a:srgbClr val="B6D7A8"/>
                </a:highlight>
                <a:latin typeface="Roboto"/>
                <a:ea typeface="Roboto"/>
                <a:cs typeface="Roboto"/>
                <a:sym typeface="Roboto"/>
              </a:rPr>
              <a:t>실시간 통계</a:t>
            </a:r>
            <a:endParaRPr b="1" sz="1702">
              <a:solidFill>
                <a:schemeClr val="dk1"/>
              </a:solidFill>
              <a:highlight>
                <a:srgbClr val="B6D7A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8"/>
              <a:buFont typeface="Roboto"/>
              <a:buChar char="●"/>
            </a:pPr>
            <a:r>
              <a:rPr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총 기사 수, 고위험 기사 수</a:t>
            </a:r>
            <a:endParaRPr sz="15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Font typeface="Roboto"/>
              <a:buChar char="●"/>
            </a:pPr>
            <a:r>
              <a:rPr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평균 불일치율, 평균 참여율</a:t>
            </a:r>
            <a:endParaRPr sz="15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Font typeface="Roboto"/>
              <a:buChar char="●"/>
            </a:pPr>
            <a:r>
              <a:rPr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총 공감수, 총 댓글수</a:t>
            </a:r>
            <a:endParaRPr sz="15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ko" sz="1702">
                <a:solidFill>
                  <a:schemeClr val="dk1"/>
                </a:solidFill>
                <a:highlight>
                  <a:srgbClr val="A2C4C9"/>
                </a:highlight>
                <a:latin typeface="Roboto"/>
                <a:ea typeface="Roboto"/>
                <a:cs typeface="Roboto"/>
                <a:sym typeface="Roboto"/>
              </a:rPr>
              <a:t>정렬 및 필터링</a:t>
            </a:r>
            <a:endParaRPr b="1" sz="1702">
              <a:solidFill>
                <a:schemeClr val="dk1"/>
              </a:solidFill>
              <a:highlight>
                <a:srgbClr val="A2C4C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위험순</a:t>
            </a:r>
            <a:r>
              <a:rPr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불일치 확률 높은 순</a:t>
            </a:r>
            <a:endParaRPr sz="15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안전순</a:t>
            </a:r>
            <a:r>
              <a:rPr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불일치 확률 낮은 순</a:t>
            </a:r>
            <a:endParaRPr sz="15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참여도순</a:t>
            </a:r>
            <a:r>
              <a:rPr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독자 참여 많은 순</a:t>
            </a:r>
            <a:endParaRPr sz="15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최신순</a:t>
            </a:r>
            <a:r>
              <a:rPr lang="ko" sz="1517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발행일 기준</a:t>
            </a:r>
            <a:endParaRPr sz="15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17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65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0"/>
          <p:cNvSpPr txBox="1"/>
          <p:nvPr>
            <p:ph idx="1" type="body"/>
          </p:nvPr>
        </p:nvSpPr>
        <p:spPr>
          <a:xfrm>
            <a:off x="4572000" y="1152475"/>
            <a:ext cx="415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2">
                <a:solidFill>
                  <a:schemeClr val="dk1"/>
                </a:solidFill>
                <a:highlight>
                  <a:srgbClr val="B6D7A8"/>
                </a:highlight>
              </a:rPr>
              <a:t>시각화</a:t>
            </a:r>
            <a:endParaRPr b="1" sz="1702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lang="ko" sz="1517">
                <a:solidFill>
                  <a:schemeClr val="dk1"/>
                </a:solidFill>
              </a:rPr>
              <a:t>언론사별 고위험 기사 분포 (도넛 차트)</a:t>
            </a:r>
            <a:endParaRPr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lang="ko" sz="1517">
                <a:solidFill>
                  <a:schemeClr val="dk1"/>
                </a:solidFill>
              </a:rPr>
              <a:t>카드 형태의 직관적 기사 표시</a:t>
            </a:r>
            <a:endParaRPr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lang="ko" sz="1517">
                <a:solidFill>
                  <a:schemeClr val="dk1"/>
                </a:solidFill>
              </a:rPr>
              <a:t>색상 코딩으로 위험도 구분</a:t>
            </a:r>
            <a:endParaRPr b="1" sz="170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8889"/>
              <a:buFont typeface="Arial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활용 가치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1"/>
          <p:cNvSpPr txBox="1"/>
          <p:nvPr>
            <p:ph idx="1" type="body"/>
          </p:nvPr>
        </p:nvSpPr>
        <p:spPr>
          <a:xfrm>
            <a:off x="311700" y="1152475"/>
            <a:ext cx="4696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언론사 관점</a:t>
            </a:r>
            <a:endParaRPr b="1" sz="1700">
              <a:solidFill>
                <a:schemeClr val="dk1"/>
              </a:solidFill>
              <a:highlight>
                <a:srgbClr val="FFE59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자사 기사의 품질 개선 방향 제시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독자 반응 패턴 분석을 통한 콘텐츠 전략 수립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독자 관점</a:t>
            </a:r>
            <a:endParaRPr b="1" sz="1700">
              <a:solidFill>
                <a:schemeClr val="dk1"/>
              </a:solidFill>
              <a:highlight>
                <a:srgbClr val="FFE59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신뢰할 수 있는 기사 선별 도구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클릭베이트 사전 방지</a:t>
            </a:r>
            <a:endParaRPr b="1" sz="2302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1"/>
          <p:cNvSpPr txBox="1"/>
          <p:nvPr>
            <p:ph idx="1" type="body"/>
          </p:nvPr>
        </p:nvSpPr>
        <p:spPr>
          <a:xfrm>
            <a:off x="5166900" y="1152475"/>
            <a:ext cx="366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ko" sz="1700">
                <a:solidFill>
                  <a:schemeClr val="dk1"/>
                </a:solidFill>
                <a:highlight>
                  <a:srgbClr val="B6D7A8"/>
                </a:highlight>
              </a:rPr>
              <a:t>미디어 리터러시</a:t>
            </a:r>
            <a:endParaRPr b="1" sz="17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ko" sz="1500">
                <a:solidFill>
                  <a:schemeClr val="dk1"/>
                </a:solidFill>
              </a:rPr>
              <a:t>뉴스 소비 패턴 개선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ko" sz="1500">
                <a:solidFill>
                  <a:schemeClr val="dk1"/>
                </a:solidFill>
              </a:rPr>
              <a:t>비판적 사고 능력 향상</a:t>
            </a:r>
            <a:endParaRPr b="1" sz="230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538" y="920825"/>
            <a:ext cx="7106175" cy="383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4450" y="920825"/>
            <a:ext cx="1584650" cy="127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Test </a:t>
            </a:r>
            <a:r>
              <a:rPr lang="ko" sz="1400">
                <a:latin typeface="Roboto"/>
                <a:ea typeface="Roboto"/>
                <a:cs typeface="Roboto"/>
                <a:sym typeface="Roboto"/>
              </a:rPr>
              <a:t>MongoDB &lt;&gt; vs code HTML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113" y="1124590"/>
            <a:ext cx="8549126" cy="3646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뉴스 크롤링 </a:t>
            </a:r>
            <a:r>
              <a:rPr lang="ko" sz="1400">
                <a:latin typeface="Roboto"/>
                <a:ea typeface="Roboto"/>
                <a:cs typeface="Roboto"/>
                <a:sym typeface="Roboto"/>
              </a:rPr>
              <a:t>vs code ‘</a:t>
            </a:r>
            <a:r>
              <a:rPr lang="ko" sz="1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crawler.py</a:t>
            </a:r>
            <a:r>
              <a:rPr lang="ko" sz="1400">
                <a:latin typeface="Roboto"/>
                <a:ea typeface="Roboto"/>
                <a:cs typeface="Roboto"/>
                <a:sym typeface="Roboto"/>
              </a:rPr>
              <a:t>’ &gt; Naver news 크롤링 &gt; MongoDB 저장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3"/>
          <p:cNvSpPr/>
          <p:nvPr/>
        </p:nvSpPr>
        <p:spPr>
          <a:xfrm rot="10800000">
            <a:off x="2898450" y="3859075"/>
            <a:ext cx="464700" cy="3777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0228" y="2759850"/>
            <a:ext cx="1172626" cy="20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/>
          <p:nvPr/>
        </p:nvSpPr>
        <p:spPr>
          <a:xfrm>
            <a:off x="1601100" y="2826500"/>
            <a:ext cx="1248900" cy="194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7750" y="4091338"/>
            <a:ext cx="3180475" cy="656275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" name="Google Shape;143;p13"/>
          <p:cNvSpPr/>
          <p:nvPr/>
        </p:nvSpPr>
        <p:spPr>
          <a:xfrm>
            <a:off x="4300775" y="4236775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490699" y="4771475"/>
            <a:ext cx="204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🔼</a:t>
            </a:r>
            <a:r>
              <a:rPr b="1" i="0" lang="ko" sz="1300" u="none" cap="none" strike="noStrike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저장 데이터 구성 </a:t>
            </a:r>
            <a:endParaRPr b="1" i="0" sz="1300" u="none" cap="none" strike="noStrike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4722100" y="4771475"/>
            <a:ext cx="234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🔼</a:t>
            </a:r>
            <a:r>
              <a:rPr b="1" i="0" lang="ko" sz="1300" u="none" cap="none" strike="noStrike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댓글수, 공감수 못 가져옴 </a:t>
            </a:r>
            <a:endParaRPr b="1" i="0" sz="1300" u="none" cap="none" strike="noStrike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11100" y="2054513"/>
            <a:ext cx="3393874" cy="12555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13"/>
          <p:cNvSpPr txBox="1"/>
          <p:nvPr/>
        </p:nvSpPr>
        <p:spPr>
          <a:xfrm>
            <a:off x="6478025" y="3288175"/>
            <a:ext cx="257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본문 내용 잘 불러오는지 확인🔼 </a:t>
            </a:r>
            <a:endParaRPr b="0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뉴스 크롤링 </a:t>
            </a:r>
            <a:r>
              <a:rPr lang="ko" sz="1400">
                <a:latin typeface="Roboto"/>
                <a:ea typeface="Roboto"/>
                <a:cs typeface="Roboto"/>
                <a:sym typeface="Roboto"/>
              </a:rPr>
              <a:t>댓글수, 공감수 (동적 생성) 관련 코드 수정</a:t>
            </a:r>
            <a:endParaRPr b="1" sz="14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975" y="2614225"/>
            <a:ext cx="19621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443775" y="3090475"/>
            <a:ext cx="788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🔼</a:t>
            </a:r>
            <a:r>
              <a:rPr b="1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크롬드라이버 설치 </a:t>
            </a:r>
            <a:r>
              <a:rPr b="0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후 폴더 이동</a:t>
            </a:r>
            <a:r>
              <a:rPr b="1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b="0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ChromeDriver</a:t>
            </a: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는 Selenium이 크롬 브라우저를 자동 조작하기 위해 필요</a:t>
            </a:r>
            <a:r>
              <a:rPr b="1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423199" y="2043050"/>
            <a:ext cx="643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🔼</a:t>
            </a:r>
            <a:r>
              <a:rPr b="0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requests + BeautifulSoup</a:t>
            </a: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&gt;&gt;</a:t>
            </a:r>
            <a:r>
              <a:rPr b="1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Selenium</a:t>
            </a:r>
            <a:endParaRPr b="1" i="0" sz="1300" u="none" cap="none" strike="noStrike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974" y="1230700"/>
            <a:ext cx="5910527" cy="81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283" y="3721975"/>
            <a:ext cx="2304835" cy="53592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14"/>
          <p:cNvSpPr/>
          <p:nvPr/>
        </p:nvSpPr>
        <p:spPr>
          <a:xfrm>
            <a:off x="2987788" y="3863688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423200" y="4338002"/>
            <a:ext cx="291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" sz="1500" u="none" cap="none" strike="noStrike">
                <a:solidFill>
                  <a:srgbClr val="188038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🔼</a:t>
            </a:r>
            <a:r>
              <a:rPr b="1" i="0" lang="ko" sz="1500" u="none" cap="none" strike="noStrike">
                <a:solidFill>
                  <a:srgbClr val="333333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정상적인 작동</a:t>
            </a:r>
            <a:endParaRPr b="1" i="0" sz="1500" u="none" cap="none" strike="noStrike">
              <a:solidFill>
                <a:srgbClr val="333333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" name="Google Shape;160;p14"/>
          <p:cNvPicPr preferRelativeResize="0"/>
          <p:nvPr/>
        </p:nvPicPr>
        <p:blipFill rotWithShape="1">
          <a:blip r:embed="rId6">
            <a:alphaModFix/>
          </a:blip>
          <a:srcRect b="16661" l="0" r="0" t="12496"/>
          <a:stretch/>
        </p:blipFill>
        <p:spPr>
          <a:xfrm>
            <a:off x="3476451" y="3722009"/>
            <a:ext cx="2221024" cy="53590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78875" y="2628500"/>
            <a:ext cx="329565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모델 적용 방식 선택 </a:t>
            </a:r>
            <a:r>
              <a:rPr lang="ko" sz="1400">
                <a:latin typeface="Roboto"/>
                <a:ea typeface="Roboto"/>
                <a:cs typeface="Roboto"/>
                <a:sym typeface="Roboto"/>
              </a:rPr>
              <a:t>개발된 CTN 모델 활용</a:t>
            </a:r>
            <a:endParaRPr b="1" sz="14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145" y="1085845"/>
            <a:ext cx="1266500" cy="12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3520" y="1085850"/>
            <a:ext cx="1266500" cy="12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1432" y="1058470"/>
            <a:ext cx="1266500" cy="12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1325" y="956850"/>
            <a:ext cx="2045876" cy="13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145" y="3620145"/>
            <a:ext cx="1266500" cy="12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3520" y="3620163"/>
            <a:ext cx="1266500" cy="12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8275" y="3555675"/>
            <a:ext cx="2045876" cy="13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 txBox="1"/>
          <p:nvPr/>
        </p:nvSpPr>
        <p:spPr>
          <a:xfrm>
            <a:off x="492475" y="2761575"/>
            <a:ext cx="302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⇅ </a:t>
            </a:r>
            <a:r>
              <a:rPr b="1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MongoDB data 가져오기 / 모델 활용 </a:t>
            </a:r>
            <a:endParaRPr b="1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3850850" y="2352375"/>
            <a:ext cx="651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↑</a:t>
            </a: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검색, 필터링, 정렬에 활용 가능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   UDATE 필수 / 확률값을 다시 몽고디비에 저장 후 출력</a:t>
            </a:r>
            <a:endParaRPr b="1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3850850" y="3145450"/>
            <a:ext cx="498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↓ </a:t>
            </a: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호출할 때마다 예측 모델을 계속 부름 &gt; 페이지 로딩 속도 느려짐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다양한 모델 실험에 유연함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1861088" y="1688088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1861075" y="4116113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3596225" y="1688088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5550125" y="1688088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4671175" y="4116113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15"/>
          <p:cNvCxnSpPr/>
          <p:nvPr/>
        </p:nvCxnSpPr>
        <p:spPr>
          <a:xfrm flipH="1" rot="10800000">
            <a:off x="3855550" y="3000400"/>
            <a:ext cx="5320800" cy="108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" name="Google Shape;183;p15"/>
          <p:cNvGrpSpPr/>
          <p:nvPr/>
        </p:nvGrpSpPr>
        <p:grpSpPr>
          <a:xfrm>
            <a:off x="2530850" y="1375797"/>
            <a:ext cx="3940080" cy="2830706"/>
            <a:chOff x="1176324" y="3688600"/>
            <a:chExt cx="3539100" cy="2572200"/>
          </a:xfrm>
        </p:grpSpPr>
        <p:sp>
          <p:nvSpPr>
            <p:cNvPr id="184" name="Google Shape;184;p15"/>
            <p:cNvSpPr/>
            <p:nvPr/>
          </p:nvSpPr>
          <p:spPr>
            <a:xfrm>
              <a:off x="1176324" y="3688600"/>
              <a:ext cx="3539100" cy="2572200"/>
            </a:xfrm>
            <a:prstGeom prst="wedgeRoundRectCallout">
              <a:avLst>
                <a:gd fmla="val -6382" name="adj1"/>
                <a:gd fmla="val 71745" name="adj2"/>
                <a:gd fmla="val 0" name="adj3"/>
              </a:avLst>
            </a:prstGeom>
            <a:solidFill>
              <a:srgbClr val="B6D7A8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" name="Google Shape;185;p15"/>
            <p:cNvSpPr txBox="1"/>
            <p:nvPr/>
          </p:nvSpPr>
          <p:spPr>
            <a:xfrm>
              <a:off x="1383447" y="3738574"/>
              <a:ext cx="3252600" cy="2472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" sz="2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🎯 </a:t>
              </a:r>
              <a:r>
                <a:rPr b="1" i="0" lang="ko" sz="2000" u="none" cap="none" strike="noStrike">
                  <a:solidFill>
                    <a:srgbClr val="274E13"/>
                  </a:solidFill>
                  <a:highlight>
                    <a:srgbClr val="D9EAD3"/>
                  </a:highlight>
                  <a:latin typeface="Roboto"/>
                  <a:ea typeface="Roboto"/>
                  <a:cs typeface="Roboto"/>
                  <a:sym typeface="Roboto"/>
                </a:rPr>
                <a:t>결론: 어떤 방식 사용?</a:t>
              </a:r>
              <a:endParaRPr b="1" i="0" sz="2000" u="none" cap="none" strike="noStrike">
                <a:solidFill>
                  <a:srgbClr val="274E13"/>
                </a:solidFill>
                <a:highlight>
                  <a:srgbClr val="D9EAD3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ko" sz="1600" u="none" cap="none" strike="noStrike">
                  <a:solidFill>
                    <a:schemeClr val="dk1"/>
                  </a:solidFill>
                  <a:highlight>
                    <a:srgbClr val="D9EAD3"/>
                  </a:highlight>
                  <a:latin typeface="Roboto"/>
                  <a:ea typeface="Roboto"/>
                  <a:cs typeface="Roboto"/>
                  <a:sym typeface="Roboto"/>
                </a:rPr>
                <a:t>초기 개발 단계 </a:t>
              </a:r>
              <a:r>
                <a:rPr b="1" i="0" lang="ko" sz="1600" u="none" cap="none" strike="noStrike">
                  <a:solidFill>
                    <a:schemeClr val="dk1"/>
                  </a:solidFill>
                  <a:highlight>
                    <a:srgbClr val="D9EAD3"/>
                  </a:highlight>
                  <a:latin typeface="Batang"/>
                  <a:ea typeface="Batang"/>
                  <a:cs typeface="Batang"/>
                  <a:sym typeface="Batang"/>
                </a:rPr>
                <a:t>★</a:t>
              </a:r>
              <a:endParaRPr/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ko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모델 수정의 가능성 존재 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ko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→ </a:t>
              </a:r>
              <a:r>
                <a:rPr b="0" i="0" lang="ko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로컬에서 실시간 모델 돌려서 출력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" sz="1600" u="none" cap="none" strike="noStrike">
                  <a:solidFill>
                    <a:schemeClr val="dk1"/>
                  </a:solidFill>
                  <a:highlight>
                    <a:srgbClr val="D9EAD3"/>
                  </a:highlight>
                  <a:latin typeface="Roboto"/>
                  <a:ea typeface="Roboto"/>
                  <a:cs typeface="Roboto"/>
                  <a:sym typeface="Roboto"/>
                </a:rPr>
                <a:t>시스템 안정화 / 배포 시점</a:t>
              </a:r>
              <a:endParaRPr b="1" i="0" sz="1600" u="none" cap="none" strike="noStrike">
                <a:solidFill>
                  <a:schemeClr val="dk1"/>
                </a:solidFill>
                <a:highlight>
                  <a:srgbClr val="D9EAD3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ko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불일치 확률을 MongoDB에 업데이트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ko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i="0" lang="ko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→ </a:t>
              </a:r>
              <a:r>
                <a:rPr b="0" i="0" lang="ko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속도 개선 + 정렬·필터링 용이</a:t>
              </a:r>
              <a:endParaRPr b="0"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86" name="Google Shape;186;p15"/>
          <p:cNvPicPr preferRelativeResize="0"/>
          <p:nvPr/>
        </p:nvPicPr>
        <p:blipFill rotWithShape="1">
          <a:blip r:embed="rId6">
            <a:alphaModFix/>
          </a:blip>
          <a:srcRect b="11769" l="15894" r="21255" t="18383"/>
          <a:stretch/>
        </p:blipFill>
        <p:spPr>
          <a:xfrm>
            <a:off x="7983150" y="3730438"/>
            <a:ext cx="788850" cy="87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모델 적용 / 호출</a:t>
            </a:r>
            <a:endParaRPr b="1" sz="14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100" y="903850"/>
            <a:ext cx="6272825" cy="9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4858268" y="948400"/>
            <a:ext cx="720600" cy="16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3272875" y="1138861"/>
            <a:ext cx="2263800" cy="2067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3917285" y="1390113"/>
            <a:ext cx="762900" cy="16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8000" y="903862"/>
            <a:ext cx="1508650" cy="124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/>
          <p:cNvPicPr preferRelativeResize="0"/>
          <p:nvPr/>
        </p:nvPicPr>
        <p:blipFill rotWithShape="1">
          <a:blip r:embed="rId5">
            <a:alphaModFix/>
          </a:blip>
          <a:srcRect b="40898" l="0" r="0" t="6960"/>
          <a:stretch/>
        </p:blipFill>
        <p:spPr>
          <a:xfrm>
            <a:off x="550650" y="2306650"/>
            <a:ext cx="7856002" cy="2577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CTN_Model  Epoch7 </a:t>
            </a:r>
            <a:r>
              <a:rPr lang="ko" sz="1400">
                <a:latin typeface="Roboto"/>
                <a:ea typeface="Roboto"/>
                <a:cs typeface="Roboto"/>
                <a:sym typeface="Roboto"/>
              </a:rPr>
              <a:t>512 토큰 초과일 때의 본문 요약 내용 수정</a:t>
            </a:r>
            <a:endParaRPr b="1" sz="14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044" y="1017763"/>
            <a:ext cx="3024000" cy="205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99" y="3449559"/>
            <a:ext cx="495748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4980" y="800040"/>
            <a:ext cx="3158534" cy="2649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9450" y="800040"/>
            <a:ext cx="21145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7494" y="3449559"/>
            <a:ext cx="4229607" cy="156686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모델 적용 방식 수정 </a:t>
            </a:r>
            <a:r>
              <a:rPr lang="ko" sz="1400">
                <a:latin typeface="Roboto"/>
                <a:ea typeface="Roboto"/>
                <a:cs typeface="Roboto"/>
                <a:sym typeface="Roboto"/>
              </a:rPr>
              <a:t>모델 확정 이후 </a:t>
            </a:r>
            <a:endParaRPr b="1" sz="14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145" y="1085845"/>
            <a:ext cx="1266500" cy="12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3520" y="1085850"/>
            <a:ext cx="1266500" cy="12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1432" y="1058470"/>
            <a:ext cx="1266500" cy="12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5175" y="993988"/>
            <a:ext cx="2193823" cy="13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145" y="3620145"/>
            <a:ext cx="1266500" cy="12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3520" y="3620163"/>
            <a:ext cx="1266500" cy="12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1350" y="3555675"/>
            <a:ext cx="2193798" cy="13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492475" y="2761575"/>
            <a:ext cx="302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⇅ </a:t>
            </a:r>
            <a:r>
              <a:rPr b="1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MongoDB data 가져오기 / 모델 활용 </a:t>
            </a:r>
            <a:endParaRPr b="1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3850850" y="2352375"/>
            <a:ext cx="651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↑</a:t>
            </a: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검색, 필터링, 정렬에 활용 가능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   UDATE 필수 / </a:t>
            </a: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스코어 기준 변경 시, 전체 데이터를 다시 예측/업데이트</a:t>
            </a:r>
            <a:r>
              <a:rPr b="1" i="0" lang="ko" sz="13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3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3850850" y="3145450"/>
            <a:ext cx="498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↓ </a:t>
            </a: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호출할 때마다 예측 모델을 계속 부름 &gt; 페이지 로딩 속도 느려짐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ko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다양한 모델 실험에 유연함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1861088" y="1688088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1861075" y="4116113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3596225" y="1688088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5438075" y="1688088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4671175" y="4116113"/>
            <a:ext cx="339000" cy="268500"/>
          </a:xfrm>
          <a:prstGeom prst="stripedRightArrow">
            <a:avLst>
              <a:gd fmla="val 3336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18"/>
          <p:cNvCxnSpPr/>
          <p:nvPr/>
        </p:nvCxnSpPr>
        <p:spPr>
          <a:xfrm flipH="1" rot="10800000">
            <a:off x="3855550" y="3000400"/>
            <a:ext cx="5320800" cy="108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9" name="Google Shape;229;p18"/>
          <p:cNvGrpSpPr/>
          <p:nvPr/>
        </p:nvGrpSpPr>
        <p:grpSpPr>
          <a:xfrm>
            <a:off x="2674638" y="1576509"/>
            <a:ext cx="3940080" cy="2136731"/>
            <a:chOff x="1275297" y="3555684"/>
            <a:chExt cx="3539100" cy="1941600"/>
          </a:xfrm>
        </p:grpSpPr>
        <p:sp>
          <p:nvSpPr>
            <p:cNvPr id="230" name="Google Shape;230;p18"/>
            <p:cNvSpPr/>
            <p:nvPr/>
          </p:nvSpPr>
          <p:spPr>
            <a:xfrm>
              <a:off x="1275297" y="3555684"/>
              <a:ext cx="3539100" cy="1941600"/>
            </a:xfrm>
            <a:prstGeom prst="wedgeRoundRectCallout">
              <a:avLst>
                <a:gd fmla="val -6382" name="adj1"/>
                <a:gd fmla="val 71745" name="adj2"/>
                <a:gd fmla="val 0" name="adj3"/>
              </a:avLst>
            </a:prstGeom>
            <a:solidFill>
              <a:srgbClr val="B6D7A8"/>
            </a:solidFill>
            <a:ln cap="flat" cmpd="sng" w="2857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" name="Google Shape;231;p18"/>
            <p:cNvSpPr txBox="1"/>
            <p:nvPr/>
          </p:nvSpPr>
          <p:spPr>
            <a:xfrm>
              <a:off x="1465594" y="3643730"/>
              <a:ext cx="3252600" cy="14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" sz="20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🎯 </a:t>
              </a:r>
              <a:r>
                <a:rPr b="1" i="0" lang="ko" sz="2000" u="none" cap="none" strike="noStrike">
                  <a:solidFill>
                    <a:srgbClr val="274E13"/>
                  </a:solidFill>
                  <a:highlight>
                    <a:srgbClr val="D9EAD3"/>
                  </a:highlight>
                  <a:latin typeface="Roboto"/>
                  <a:ea typeface="Roboto"/>
                  <a:cs typeface="Roboto"/>
                  <a:sym typeface="Roboto"/>
                </a:rPr>
                <a:t>현재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" sz="1600" u="none" cap="none" strike="noStrike">
                  <a:solidFill>
                    <a:schemeClr val="dk1"/>
                  </a:solidFill>
                  <a:highlight>
                    <a:srgbClr val="D9EAD3"/>
                  </a:highlight>
                  <a:latin typeface="Roboto"/>
                  <a:ea typeface="Roboto"/>
                  <a:cs typeface="Roboto"/>
                  <a:sym typeface="Roboto"/>
                </a:rPr>
                <a:t>시스템 안정화 / 배포 시점</a:t>
              </a:r>
              <a:endParaRPr b="1" i="0" sz="1600" u="none" cap="none" strike="noStrike">
                <a:solidFill>
                  <a:schemeClr val="dk1"/>
                </a:solidFill>
                <a:highlight>
                  <a:srgbClr val="D9EAD3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ko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불일치 확률을 MongoDB에 업데이트</a:t>
              </a:r>
              <a:endPara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ko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i="0" lang="ko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→ </a:t>
              </a:r>
              <a:r>
                <a:rPr b="0" i="0" lang="ko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속도 개선 + 정렬·필터링 용이</a:t>
              </a:r>
              <a:endParaRPr b="0"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32" name="Google Shape;232;p18"/>
          <p:cNvPicPr preferRelativeResize="0"/>
          <p:nvPr/>
        </p:nvPicPr>
        <p:blipFill rotWithShape="1">
          <a:blip r:embed="rId6">
            <a:alphaModFix/>
          </a:blip>
          <a:srcRect b="11769" l="15894" r="21255" t="18383"/>
          <a:stretch/>
        </p:blipFill>
        <p:spPr>
          <a:xfrm>
            <a:off x="8131050" y="1267588"/>
            <a:ext cx="788850" cy="87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9"/>
          <p:cNvPicPr preferRelativeResize="0"/>
          <p:nvPr/>
        </p:nvPicPr>
        <p:blipFill rotWithShape="1">
          <a:blip r:embed="rId3">
            <a:alphaModFix/>
          </a:blip>
          <a:srcRect b="7749" l="0" r="0" t="0"/>
          <a:stretch/>
        </p:blipFill>
        <p:spPr>
          <a:xfrm>
            <a:off x="278313" y="759375"/>
            <a:ext cx="8587376" cy="29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DB에 확률값 업데이트  </a:t>
            </a:r>
            <a:r>
              <a:rPr lang="ko" sz="1400">
                <a:latin typeface="Roboto"/>
                <a:ea typeface="Roboto"/>
                <a:cs typeface="Roboto"/>
                <a:sym typeface="Roboto"/>
              </a:rPr>
              <a:t>모델 / DB관련 코드 전반적인 수정 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1125763" y="748026"/>
            <a:ext cx="1473600" cy="20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1125776" y="1791000"/>
            <a:ext cx="3696300" cy="24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1125788" y="2261650"/>
            <a:ext cx="2116800" cy="20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1125787" y="3478675"/>
            <a:ext cx="3777600" cy="24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325" y="3926025"/>
            <a:ext cx="44767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750" y="4132963"/>
            <a:ext cx="36195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/>
          <p:nvPr/>
        </p:nvSpPr>
        <p:spPr>
          <a:xfrm>
            <a:off x="213200" y="4406577"/>
            <a:ext cx="291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ko" sz="1300" u="none" cap="none" strike="noStrike">
                <a:solidFill>
                  <a:srgbClr val="188038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🔼</a:t>
            </a:r>
            <a:r>
              <a:rPr b="1" i="0" lang="ko" sz="1300" u="none" cap="none" strike="noStrike">
                <a:solidFill>
                  <a:srgbClr val="333333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DB 에 확률값이 추가됨</a:t>
            </a:r>
            <a:endParaRPr b="1" i="0" sz="1300" u="none" cap="none" strike="noStrike">
              <a:solidFill>
                <a:srgbClr val="333333"/>
              </a:solidFill>
              <a:highlight>
                <a:schemeClr val="accent6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 txBox="1"/>
          <p:nvPr>
            <p:ph type="title"/>
          </p:nvPr>
        </p:nvSpPr>
        <p:spPr>
          <a:xfrm>
            <a:off x="384375" y="17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ko" sz="2400">
                <a:latin typeface="Roboto"/>
                <a:ea typeface="Roboto"/>
                <a:cs typeface="Roboto"/>
                <a:sym typeface="Roboto"/>
              </a:rPr>
              <a:t>최종 페이지 &gt; 구현</a:t>
            </a:r>
            <a:endParaRPr b="1" sz="14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1" name="Google Shape;2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0" y="748025"/>
            <a:ext cx="7981261" cy="409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1"/>
          <p:cNvPicPr preferRelativeResize="0"/>
          <p:nvPr/>
        </p:nvPicPr>
        <p:blipFill rotWithShape="1">
          <a:blip r:embed="rId3">
            <a:alphaModFix/>
          </a:blip>
          <a:srcRect b="0" l="15164" r="0" t="24920"/>
          <a:stretch/>
        </p:blipFill>
        <p:spPr>
          <a:xfrm>
            <a:off x="5722620" y="1239061"/>
            <a:ext cx="3309921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ko">
                <a:latin typeface="Roboto"/>
                <a:ea typeface="Roboto"/>
                <a:cs typeface="Roboto"/>
                <a:sym typeface="Roboto"/>
              </a:rPr>
              <a:t>불일치 기사 근거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21"/>
          <p:cNvPicPr preferRelativeResize="0"/>
          <p:nvPr/>
        </p:nvPicPr>
        <p:blipFill rotWithShape="1">
          <a:blip r:embed="rId4">
            <a:alphaModFix/>
          </a:blip>
          <a:srcRect b="0" l="40006" r="6951" t="13601"/>
          <a:stretch/>
        </p:blipFill>
        <p:spPr>
          <a:xfrm>
            <a:off x="1943100" y="1662679"/>
            <a:ext cx="3779520" cy="2433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/>
          <p:cNvPicPr preferRelativeResize="0"/>
          <p:nvPr/>
        </p:nvPicPr>
        <p:blipFill rotWithShape="1">
          <a:blip r:embed="rId4">
            <a:alphaModFix/>
          </a:blip>
          <a:srcRect b="0" l="0" r="74645" t="13601"/>
          <a:stretch/>
        </p:blipFill>
        <p:spPr>
          <a:xfrm>
            <a:off x="209190" y="1662679"/>
            <a:ext cx="1806660" cy="2433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8889"/>
              <a:buFont typeface="Arial"/>
              <a:buNone/>
            </a:pPr>
            <a:r>
              <a:rPr b="1" lang="ko" sz="2500">
                <a:latin typeface="Roboto"/>
                <a:ea typeface="Roboto"/>
                <a:cs typeface="Roboto"/>
                <a:sym typeface="Roboto"/>
              </a:rPr>
              <a:t>향후 개선 방향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2"/>
          <p:cNvSpPr txBox="1"/>
          <p:nvPr>
            <p:ph idx="1" type="body"/>
          </p:nvPr>
        </p:nvSpPr>
        <p:spPr>
          <a:xfrm>
            <a:off x="311700" y="1152475"/>
            <a:ext cx="415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분석 고도화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감정 분석 추가 (긍정/부정/중립)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주제별 카테고리 분류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시계열 트렌드 분석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기능 확장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알림 시스템 (고위험 기사 발견 시)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 제공으로 외부 시스템 연동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ko" sz="1500">
                <a:solidFill>
                  <a:schemeClr val="dk1"/>
                </a:solidFill>
                <a:highlight>
                  <a:srgbClr val="C0C0C0"/>
                </a:highlight>
                <a:latin typeface="Roboto"/>
                <a:ea typeface="Roboto"/>
                <a:cs typeface="Roboto"/>
                <a:sym typeface="Roboto"/>
              </a:rPr>
              <a:t>사용자 맞춤형 대시보드</a:t>
            </a:r>
            <a:endParaRPr b="1" sz="2302">
              <a:solidFill>
                <a:schemeClr val="dk1"/>
              </a:solidFill>
              <a:highlight>
                <a:srgbClr val="C0C0C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2"/>
          <p:cNvSpPr txBox="1"/>
          <p:nvPr>
            <p:ph idx="1" type="body"/>
          </p:nvPr>
        </p:nvSpPr>
        <p:spPr>
          <a:xfrm>
            <a:off x="4572000" y="1152475"/>
            <a:ext cx="415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ko" sz="1700">
                <a:solidFill>
                  <a:schemeClr val="dk1"/>
                </a:solidFill>
              </a:rPr>
              <a:t>데이터 확장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ko" sz="1500">
                <a:solidFill>
                  <a:schemeClr val="dk1"/>
                </a:solidFill>
                <a:highlight>
                  <a:srgbClr val="C0C0C0"/>
                </a:highlight>
              </a:rPr>
              <a:t>다른 카테고리의 기사 수집</a:t>
            </a:r>
            <a:endParaRPr sz="1500">
              <a:solidFill>
                <a:schemeClr val="dk1"/>
              </a:solidFill>
              <a:highlight>
                <a:srgbClr val="C0C0C0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ko" sz="1500">
                <a:solidFill>
                  <a:schemeClr val="dk1"/>
                </a:solidFill>
              </a:rPr>
              <a:t>소셜미디어 반응 데이터 통합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ko" sz="1500">
                <a:solidFill>
                  <a:schemeClr val="dk1"/>
                </a:solidFill>
              </a:rPr>
              <a:t>실시간 데이터 스트리밍</a:t>
            </a:r>
            <a:endParaRPr b="1" sz="230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>
            <p:ph type="title"/>
          </p:nvPr>
        </p:nvSpPr>
        <p:spPr>
          <a:xfrm>
            <a:off x="3879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ko">
                <a:latin typeface="Roboto"/>
                <a:ea typeface="Roboto"/>
                <a:cs typeface="Roboto"/>
                <a:sym typeface="Roboto"/>
              </a:rPr>
              <a:t>감사합니다.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2200" y="2034525"/>
            <a:ext cx="4980101" cy="27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